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3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F47B2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926080"/>
            <a:ext cx="4754880" cy="4754880"/>
          </a:xfrm>
          <a:prstGeom prst="ellipse">
            <a:avLst/>
          </a:prstGeom>
          <a:solidFill>
            <a:srgbClr val="FFB23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40080"/>
            <a:ext cx="20665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64008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· 5분 발표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8595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영상기획을 실행 가능한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계획으로 바꾸는 </a:t>
            </a:r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D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66928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2D9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— 영상 브랜딩과 브랜드 마케팅 기획을 질문형 AI로 구조화하는 영상기획 AI 에이전트 플랫폼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D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· 송병철 · 송승준    |    github.com/aiden238/Dreammate-Studio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1772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736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5001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아이디어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16936" y="4800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01568" y="461772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FF6E8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4736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5001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질문·분석·검증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51576" y="4800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6208" y="461772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EF3E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736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5001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영상기획 + WBS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682496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Vision · 비전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한두 편 잘 돼도, ‘개인 브랜드’로 쌓이진 않습니다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AD3817"/>
          </a:solidFill>
          <a:ln/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828800"/>
            <a:ext cx="10415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Studio는 막연한 영상 아이디어를 </a:t>
            </a:r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E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방향·타깃·메시지·기획안·실행 WBS</a:t>
            </a:r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한 흐름으로 연결하는 영상기획 AI 에이전트입니다.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3520440"/>
            <a:ext cx="35021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3520440"/>
            <a:ext cx="82296" cy="178308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66674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브랜드로 축적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4087368"/>
            <a:ext cx="30906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한두 편의 성공이 휘발되지 않고, 반복되는 브랜드 자산으로 쌓이게 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3520440"/>
            <a:ext cx="35021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3520440"/>
            <a:ext cx="82296" cy="1783080"/>
          </a:xfrm>
          <a:prstGeom prst="rect">
            <a:avLst/>
          </a:prstGeom>
          <a:solidFill>
            <a:srgbClr val="FFB23F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366674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질문으로 구조화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81144" y="4087368"/>
            <a:ext cx="30906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아이디어를 AI가 질문으로 좁혀 ‘실행 가능한 기획’으로 바꿉니다.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3520440"/>
            <a:ext cx="35021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19872" y="3520440"/>
            <a:ext cx="82296" cy="178308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366674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실행까지 연결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7616" y="4087368"/>
            <a:ext cx="30906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기획에서 끝나지 않고 촬영·편집·업로드 WBS로 분해합니다.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5778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비전 — “AI가 영상 아이디어를 브랜드 전략과 실행 계획으로 바꾼다.”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970532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9705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Problem · 문제정의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다 하는 1인 창작자 — 잘 만들어도 브랜드로 안 쌓입니다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74520"/>
            <a:ext cx="82296" cy="2011680"/>
          </a:xfrm>
          <a:prstGeom prst="rect">
            <a:avLst/>
          </a:prstGeom>
          <a:solidFill>
            <a:srgbClr val="E0991C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208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브랜드 방향 불명확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30906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보여줄 브랜드인지 흐리면 영상마다 톤이 흔들립니다.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74520"/>
            <a:ext cx="82296" cy="2011680"/>
          </a:xfrm>
          <a:prstGeom prst="rect">
            <a:avLst/>
          </a:prstGeom>
          <a:solidFill>
            <a:srgbClr val="E0991C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0208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타깃 모호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81144" y="2441448"/>
            <a:ext cx="30906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누구에게 각인될 영상인지 불명확하면 메시지가 약해집니다.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9872" y="18745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19872" y="1874520"/>
            <a:ext cx="82296" cy="2011680"/>
          </a:xfrm>
          <a:prstGeom prst="rect">
            <a:avLst/>
          </a:prstGeom>
          <a:solidFill>
            <a:srgbClr val="E0991C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20208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실행 단절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57616" y="2441448"/>
            <a:ext cx="30906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 전략이 촬영·편집·업로드 작업으로 분해되지 않으면 실행이 멈춥니다.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11055096" cy="1051560"/>
          </a:xfrm>
          <a:prstGeom prst="roundRect">
            <a:avLst>
              <a:gd name="adj" fmla="val 8696"/>
            </a:avLst>
          </a:prstGeom>
          <a:solidFill>
            <a:srgbClr val="AD3817"/>
          </a:solidFill>
          <a:ln/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 포인트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4553712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“어렵게 만든 영상도, 기획이 없으면 조회수는 나와도 브랜드는 남지 않는다.”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24684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4684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82440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82440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40196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0196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97952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97952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영상기획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55708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5708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162556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162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Solution · 해결 방식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질문형 AI로 브랜드 방향을 좁혀갑니다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918411" cy="224028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1552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3218688"/>
            <a:ext cx="1534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정체성·콘텐츠 방향을 질문으로 정리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03627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51099" y="1920240"/>
            <a:ext cx="1918411" cy="224028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52267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13" name="Text 11"/>
          <p:cNvSpPr/>
          <p:nvPr/>
        </p:nvSpPr>
        <p:spPr>
          <a:xfrm>
            <a:off x="3052267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52267" y="2788920"/>
            <a:ext cx="1552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52267" y="3218688"/>
            <a:ext cx="1534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시청자와 참여 동기를 구체화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779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35270" y="1920240"/>
            <a:ext cx="1918411" cy="224028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6438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19" name="Text 17"/>
          <p:cNvSpPr/>
          <p:nvPr/>
        </p:nvSpPr>
        <p:spPr>
          <a:xfrm>
            <a:off x="5336438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36438" y="2788920"/>
            <a:ext cx="1552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36438" y="3218688"/>
            <a:ext cx="1534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Lite로 기획 근거 보강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7197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19442" y="1920240"/>
            <a:ext cx="1918411" cy="224028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20610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61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20610" y="2788920"/>
            <a:ext cx="1552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×3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610" y="3218688"/>
            <a:ext cx="1534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기획 후보 3안 생성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56141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703613" y="1920240"/>
            <a:ext cx="1918411" cy="224028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04781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31" name="Text 29"/>
          <p:cNvSpPr/>
          <p:nvPr/>
        </p:nvSpPr>
        <p:spPr>
          <a:xfrm>
            <a:off x="9904781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04781" y="2788920"/>
            <a:ext cx="1552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04781" y="3218688"/>
            <a:ext cx="1534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선택된 기획을 실행 작업으로 전환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434840"/>
            <a:ext cx="2558034" cy="548640"/>
          </a:xfrm>
          <a:prstGeom prst="roundRect">
            <a:avLst>
              <a:gd name="adj" fmla="val 13333"/>
            </a:avLst>
          </a:prstGeom>
          <a:solidFill>
            <a:srgbClr val="FFF6E8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434840"/>
            <a:ext cx="2558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선택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99282" y="4434840"/>
            <a:ext cx="2558034" cy="548640"/>
          </a:xfrm>
          <a:prstGeom prst="roundRect">
            <a:avLst>
              <a:gd name="adj" fmla="val 13333"/>
            </a:avLst>
          </a:prstGeom>
          <a:solidFill>
            <a:srgbClr val="FFF6E8"/>
          </a:solidFill>
          <a:ln/>
        </p:spPr>
      </p:sp>
      <p:sp>
        <p:nvSpPr>
          <p:cNvPr id="37" name="Text 35"/>
          <p:cNvSpPr/>
          <p:nvPr/>
        </p:nvSpPr>
        <p:spPr>
          <a:xfrm>
            <a:off x="3399282" y="4434840"/>
            <a:ext cx="2558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 검증·개선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31636" y="4434840"/>
            <a:ext cx="2558034" cy="548640"/>
          </a:xfrm>
          <a:prstGeom prst="roundRect">
            <a:avLst>
              <a:gd name="adj" fmla="val 13333"/>
            </a:avLst>
          </a:prstGeom>
          <a:solidFill>
            <a:srgbClr val="FFF6E8"/>
          </a:solidFill>
          <a:ln/>
        </p:spPr>
      </p:sp>
      <p:sp>
        <p:nvSpPr>
          <p:cNvPr id="39" name="Text 37"/>
          <p:cNvSpPr/>
          <p:nvPr/>
        </p:nvSpPr>
        <p:spPr>
          <a:xfrm>
            <a:off x="6231636" y="4434840"/>
            <a:ext cx="2558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저장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63990" y="4434840"/>
            <a:ext cx="2558034" cy="548640"/>
          </a:xfrm>
          <a:prstGeom prst="roundRect">
            <a:avLst>
              <a:gd name="adj" fmla="val 13333"/>
            </a:avLst>
          </a:prstGeom>
          <a:solidFill>
            <a:srgbClr val="FFF6E8"/>
          </a:solidFill>
          <a:ln/>
        </p:spPr>
      </p:sp>
      <p:sp>
        <p:nvSpPr>
          <p:cNvPr id="41" name="Text 39"/>
          <p:cNvSpPr/>
          <p:nvPr/>
        </p:nvSpPr>
        <p:spPr>
          <a:xfrm>
            <a:off x="9063990" y="4434840"/>
            <a:ext cx="2558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기획에 반영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6928" y="5257800"/>
            <a:ext cx="11055096" cy="777240"/>
          </a:xfrm>
          <a:prstGeom prst="roundRect">
            <a:avLst>
              <a:gd name="adj" fmla="val 11765"/>
            </a:avLst>
          </a:prstGeom>
          <a:solidFill>
            <a:srgbClr val="FFF1DD"/>
          </a:solidFill>
          <a:ln w="12700">
            <a:solidFill>
              <a:srgbClr val="FFB2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5257800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— </a:t>
            </a:r>
            <a:pPr indent="0" marL="0">
              <a:buNone/>
            </a:pPr>
            <a:r>
              <a:rPr lang="en-US" sz="13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영상을 ‘만들어’ 주지 않습니다. 무엇을·왜·누구에게 만들지를 ‘정해’ 줍니다. (제작·편집·자동 업로드는 범위 밖)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54580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354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Tech Stack · 적용 기술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기술 — 실측으로 고른 스택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78308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441448" y="1783080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14 (App Router) · TypeScript · Tailwind · shadcn/ui · PWA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7356" y="1783080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8524" y="178308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51876" y="1783080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(Python 3.11) · Pydantic v2 · SQLAlchemy 2.x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642616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26426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41448" y="2642616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· PostgreSQL 15 + pgvector · RLS · JWT 인증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7356" y="2642616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8524" y="26426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151876" y="2642616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gpt-4o-mini(생성) · gpt-4o(Critic 검증)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502152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" y="350215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Embedding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441448" y="3502152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 · candidate_knowledge 5단계 · Gemini 임베딩(한국어)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7356" y="3502152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8524" y="350215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· Deploy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51876" y="3502152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Vercel(FE) · Render(BE) · Supabase(DB) · GitHub Pages(덱)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6177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컬러보드 — 주황 포인트 + 아이보리·베이지 (실제 앱 디자인 토큰과 동기화)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F47B20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
</a:t>
            </a:r>
            <a:pPr algn="ctr" indent="0" marL="0">
              <a:buNone/>
            </a:pPr>
            <a:r>
              <a:rPr lang="en-US" sz="8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#F47B20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59290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FFB23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59290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59290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Accent
</a:t>
            </a:r>
            <a:pPr algn="ctr" indent="0" marL="0">
              <a:buNone/>
            </a:pPr>
            <a:r>
              <a:rPr lang="en-US" sz="8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#FFB23F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51653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D94C1A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51653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51653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Pressed
</a:t>
            </a:r>
            <a:pPr algn="ctr" indent="0" marL="0">
              <a:buNone/>
            </a:pPr>
            <a:r>
              <a:rPr lang="en-US" sz="8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#D94C1A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4015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573A2A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4015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4015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
</a:t>
            </a:r>
            <a:pPr algn="ctr" indent="0" marL="0">
              <a:buNone/>
            </a:pPr>
            <a:r>
              <a:rPr lang="en-US" sz="8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#573A2A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36377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352A24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36377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6377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Ink
</a:t>
            </a:r>
            <a:pPr algn="ctr" indent="0" marL="0">
              <a:buNone/>
            </a:pPr>
            <a:r>
              <a:rPr lang="en-US" sz="8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#352A24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28739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F5EFE6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28739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8739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Beige
</a:t>
            </a:r>
            <a:pPr algn="ctr" indent="0" marL="0">
              <a:buNone/>
            </a:pPr>
            <a:r>
              <a:rPr lang="en-US" sz="8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#F5EFE6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121102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FFFAF4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21102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21102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Ivory
</a:t>
            </a:r>
            <a:pPr algn="ctr" indent="0" marL="0">
              <a:buNone/>
            </a:pPr>
            <a:r>
              <a:rPr lang="en-US" sz="8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#FFFAF4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970532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9705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WBS · 작업 분해 구조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0~31 완료 — WBS 한 장 요약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58034" cy="1051560"/>
          </a:xfrm>
          <a:prstGeom prst="roundRect">
            <a:avLst>
              <a:gd name="adj" fmla="val 8696"/>
            </a:avLst>
          </a:prstGeom>
          <a:solidFill>
            <a:srgbClr val="EEF3E6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74520"/>
            <a:ext cx="2192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4323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Phase · 0~31 + 메타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282" y="1783080"/>
            <a:ext cx="2558034" cy="1051560"/>
          </a:xfrm>
          <a:prstGeom prst="roundRect">
            <a:avLst>
              <a:gd name="adj" fmla="val 8696"/>
            </a:avLst>
          </a:prstGeom>
          <a:solidFill>
            <a:srgbClr val="FFF1DD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2162" y="1874520"/>
            <a:ext cx="2192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82162" y="24323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green · 회귀 자동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1636" y="1783080"/>
            <a:ext cx="2558034" cy="1051560"/>
          </a:xfrm>
          <a:prstGeom prst="roundRect">
            <a:avLst>
              <a:gd name="adj" fmla="val 8696"/>
            </a:avLst>
          </a:prstGeom>
          <a:solidFill>
            <a:srgbClr val="FFF6E8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4516" y="1874520"/>
            <a:ext cx="2192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14516" y="24323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ADR · 의사결정 기록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63990" y="1783080"/>
            <a:ext cx="2558034" cy="1051560"/>
          </a:xfrm>
          <a:prstGeom prst="roundRect">
            <a:avLst>
              <a:gd name="adj" fmla="val 8696"/>
            </a:avLst>
          </a:prstGeom>
          <a:solidFill>
            <a:srgbClr val="FFEDD3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46870" y="1874520"/>
            <a:ext cx="2192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36/36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46870" y="24323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시나리오 시뮬레이션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0632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" y="32278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8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(Done)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" y="3666744"/>
            <a:ext cx="31181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WP1 기획·UX 설계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WP2 PWA 프론트 (11 routes)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WP3 FastAPI (17 endpoints)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WP4 4계층 데이터 모델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WP5 AI 파이프라인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0632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62856" y="32278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9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(Doing)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62856" y="3666744"/>
            <a:ext cx="31181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WP6 품질·평가 루프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WP6.1 cross-provider judge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WP5.2 RAG grounding Δ+0.9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WP7.2 데모 백업 영상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9872" y="30632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39328" y="32278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예정·후순위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39328" y="3666744"/>
            <a:ext cx="31181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WP7 배포 게이트 B~G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WP6.2 코퍼스 확대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WP8.2 멀티모달 입력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WP8.3 PDF/PPT 자동 산출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450592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Architecture · 아키텍처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아키텍처 + AI 에이전트 파이프라인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Software Architecture — 4계층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808683" cy="914400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 w="19050">
            <a:solidFill>
              <a:srgbClr val="FFB23F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2148840"/>
            <a:ext cx="180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21331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78531" y="2148840"/>
            <a:ext cx="1808683" cy="914400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 w="19050">
            <a:solidFill>
              <a:srgbClr val="FFB23F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78531" y="2148840"/>
            <a:ext cx="180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PWA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2934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90134" y="2148840"/>
            <a:ext cx="1808683" cy="914400"/>
          </a:xfrm>
          <a:prstGeom prst="roundRect">
            <a:avLst>
              <a:gd name="adj" fmla="val 10000"/>
            </a:avLst>
          </a:prstGeom>
          <a:solidFill>
            <a:srgbClr val="FFF6E8"/>
          </a:solidFill>
          <a:ln w="19050">
            <a:solidFill>
              <a:srgbClr val="F47B20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90134" y="2148840"/>
            <a:ext cx="180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BFF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4538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01738" y="2148840"/>
            <a:ext cx="1808683" cy="914400"/>
          </a:xfrm>
          <a:prstGeom prst="roundRect">
            <a:avLst>
              <a:gd name="adj" fmla="val 10000"/>
            </a:avLst>
          </a:prstGeom>
          <a:solidFill>
            <a:srgbClr val="FFF6E8"/>
          </a:solidFill>
          <a:ln w="19050">
            <a:solidFill>
              <a:srgbClr val="F47B20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01738" y="2148840"/>
            <a:ext cx="180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56141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813341" y="2148840"/>
            <a:ext cx="1808683" cy="914400"/>
          </a:xfrm>
          <a:prstGeom prst="roundRect">
            <a:avLst>
              <a:gd name="adj" fmla="val 10000"/>
            </a:avLst>
          </a:prstGeom>
          <a:solidFill>
            <a:srgbClr val="EEF3E6"/>
          </a:solidFill>
          <a:ln w="19050">
            <a:solidFill>
              <a:srgbClr val="5C8A3A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13341" y="2148840"/>
            <a:ext cx="180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Pipeline — 내부 처리 흐름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7490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47B20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38953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4261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분기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79776" y="3977640"/>
            <a:ext cx="24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002280" y="37490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47B20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002280" y="38953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002280" y="4261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검색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5128" y="3977640"/>
            <a:ext cx="24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37632" y="374904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47B20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37632" y="3895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 + Review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437632" y="4261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3안 생성·평가·개선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56320" y="3977640"/>
            <a:ext cx="24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878824" y="37490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EEF3E6"/>
          </a:solidFill>
          <a:ln w="19050">
            <a:solidFill>
              <a:srgbClr val="5C8A3A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878824" y="3895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 + Memory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878824" y="42611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저장·다음 기획 반영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Router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32304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39" name="Text 37"/>
          <p:cNvSpPr/>
          <p:nvPr/>
        </p:nvSpPr>
        <p:spPr>
          <a:xfrm>
            <a:off x="2432304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Lite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41" name="Text 39"/>
          <p:cNvSpPr/>
          <p:nvPr/>
        </p:nvSpPr>
        <p:spPr>
          <a:xfrm>
            <a:off x="4297680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Generator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63056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43" name="Text 41"/>
          <p:cNvSpPr/>
          <p:nvPr/>
        </p:nvSpPr>
        <p:spPr>
          <a:xfrm>
            <a:off x="6163056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 Agent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28432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45" name="Text 43"/>
          <p:cNvSpPr/>
          <p:nvPr/>
        </p:nvSpPr>
        <p:spPr>
          <a:xfrm>
            <a:off x="8028432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Rewriter Loop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893808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FFF6E8"/>
          </a:solidFill>
          <a:ln/>
        </p:spPr>
      </p:sp>
      <p:sp>
        <p:nvSpPr>
          <p:cNvPr id="47" name="Text 45"/>
          <p:cNvSpPr/>
          <p:nvPr/>
        </p:nvSpPr>
        <p:spPr>
          <a:xfrm>
            <a:off x="9893808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 Memory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566928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디렉토리도 레이어 그대로 — apps/web · backend · ai_system · docs/contracts(단일 진실 소스)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22676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122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Implementation · 어떻게 구현했는가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 — 생성·검증·근거·진행을 한 파이프라인으로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82296" cy="141732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2938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3안 병렬 생성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방향의 기획안 3개를 병렬 생성해 선택지를 제공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8640" y="178308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8640" y="1783080"/>
            <a:ext cx="82296" cy="1417320"/>
          </a:xfrm>
          <a:prstGeom prst="rect">
            <a:avLst/>
          </a:prstGeom>
          <a:solidFill>
            <a:srgbClr val="FFB23F"/>
          </a:solidFill>
          <a:ln/>
        </p:spPr>
      </p:sp>
      <p:sp>
        <p:nvSpPr>
          <p:cNvPr id="11" name="Text 9"/>
          <p:cNvSpPr/>
          <p:nvPr/>
        </p:nvSpPr>
        <p:spPr>
          <a:xfrm>
            <a:off x="4596384" y="192938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Critic + Revise 루프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96384" y="235000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canonical 0~1 점수로 평가, 미달 시 Rewriter가 최대 2회 개선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0352" y="178308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0352" y="1783080"/>
            <a:ext cx="82296" cy="141732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15" name="Text 13"/>
          <p:cNvSpPr/>
          <p:nvPr/>
        </p:nvSpPr>
        <p:spPr>
          <a:xfrm>
            <a:off x="8388096" y="192938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RAG Lite 5단계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88096" y="235000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후보→필터→평가→승인→승격. 검증된 지식만 pgvector 검색에 진입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42900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429000"/>
            <a:ext cx="82296" cy="1417320"/>
          </a:xfrm>
          <a:prstGeom prst="rect">
            <a:avLst/>
          </a:prstGeom>
          <a:solidFill>
            <a:srgbClr val="E0991C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57530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MOA Orchestrator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399592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659줄 god-function → 243줄 분해, 동작 보존(byte-identical)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58640" y="342900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58640" y="3429000"/>
            <a:ext cx="82296" cy="141732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23" name="Text 21"/>
          <p:cNvSpPr/>
          <p:nvPr/>
        </p:nvSpPr>
        <p:spPr>
          <a:xfrm>
            <a:off x="4596384" y="357530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SSE Progress 4단계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96384" y="399592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30~60초 생성 대기를 4단계 진행률 + 부분 결과로 표시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50352" y="342900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0352" y="3429000"/>
            <a:ext cx="82296" cy="1417320"/>
          </a:xfrm>
          <a:prstGeom prst="rect">
            <a:avLst/>
          </a:prstGeom>
          <a:solidFill>
            <a:srgbClr val="FFB23F"/>
          </a:solidFill>
          <a:ln/>
        </p:spPr>
      </p:sp>
      <p:sp>
        <p:nvSpPr>
          <p:cNvPr id="27" name="Text 25"/>
          <p:cNvSpPr/>
          <p:nvPr/>
        </p:nvSpPr>
        <p:spPr>
          <a:xfrm>
            <a:off x="8388096" y="357530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Supabase 영속 · RLS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88096" y="399592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httpOnly 쿠키 + 행 수준 보안으로 사용자 데이터 격리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074920"/>
            <a:ext cx="11055096" cy="777240"/>
          </a:xfrm>
          <a:prstGeom prst="roundRect">
            <a:avLst>
              <a:gd name="adj" fmla="val 11765"/>
            </a:avLst>
          </a:prstGeom>
          <a:solidFill>
            <a:srgbClr val="FFF6E8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074920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</a:t>
            </a:r>
            <a:pPr indent="0" marL="0">
              <a:buNone/>
            </a:pPr>
            <a:r>
              <a:rPr lang="en-US" sz="13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입출력은 contract(단일 진실 소스) 기준. 벗어나면 회귀 테스트가 즉시 잡습니다.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546604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546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Trial &amp; Error · 시행착오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관점의 시행착오 — 측정으로 뒤집은 결정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4466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75688"/>
            <a:ext cx="47960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Critic의 ‘88점 함정’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2651760"/>
            <a:ext cx="2215134" cy="1005840"/>
          </a:xfrm>
          <a:prstGeom prst="roundRect">
            <a:avLst>
              <a:gd name="adj" fmla="val 7273"/>
            </a:avLst>
          </a:prstGeom>
          <a:solidFill>
            <a:srgbClr val="FBE9E2"/>
          </a:solidFill>
          <a:ln w="12700">
            <a:solidFill>
              <a:srgbClr val="F0C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651760"/>
            <a:ext cx="221513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A23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 89점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A23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≠ 사람 44점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A23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(calibration 0건 교정)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56382" y="265176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2142" y="2651760"/>
            <a:ext cx="2215134" cy="1005840"/>
          </a:xfrm>
          <a:prstGeom prst="roundRect">
            <a:avLst>
              <a:gd name="adj" fmla="val 7273"/>
            </a:avLst>
          </a:prstGeom>
          <a:solidFill>
            <a:srgbClr val="EEF3E6"/>
          </a:solidFill>
          <a:ln w="12700">
            <a:solidFill>
              <a:srgbClr val="CFE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2142" y="2651760"/>
            <a:ext cx="221513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D7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cross-provider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D7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judge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D7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오승인 10/10 → 0/10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3794760"/>
            <a:ext cx="479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모델은 자기 출력을 후하게 평가. 다른 provider를 ‘사람 정렬 계측기’로 붙여 괴리 0.53으로 교정.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7356" y="1874520"/>
            <a:ext cx="534466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1676" y="2075688"/>
            <a:ext cx="47960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한국어 RAG 임베딩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51676" y="2651760"/>
            <a:ext cx="2215134" cy="1005840"/>
          </a:xfrm>
          <a:prstGeom prst="roundRect">
            <a:avLst>
              <a:gd name="adj" fmla="val 7273"/>
            </a:avLst>
          </a:prstGeom>
          <a:solidFill>
            <a:srgbClr val="FBE9E2"/>
          </a:solidFill>
          <a:ln w="12700">
            <a:solidFill>
              <a:srgbClr val="F0C8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1676" y="2651760"/>
            <a:ext cx="221513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A23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임베딩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A23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약함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A23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0.7 미달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66810" y="265176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132570" y="2651760"/>
            <a:ext cx="2215134" cy="1005840"/>
          </a:xfrm>
          <a:prstGeom prst="roundRect">
            <a:avLst>
              <a:gd name="adj" fmla="val 7273"/>
            </a:avLst>
          </a:prstGeom>
          <a:solidFill>
            <a:srgbClr val="EEF3E6"/>
          </a:solidFill>
          <a:ln w="12700">
            <a:solidFill>
              <a:srgbClr val="CFE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2570" y="2651760"/>
            <a:ext cx="221513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D7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임베딩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D7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 통과 3/3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D7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생성=GPT 분리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51676" y="3794760"/>
            <a:ext cx="479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공간이 한국어에서 무너짐. 임베딩만 Gemini로 교체, 생성은 GPT 유지로 품질 회복.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교훈 — </a:t>
            </a:r>
            <a:pPr indent="0" marL="0">
              <a:buNone/>
            </a:pPr>
            <a:r>
              <a:rPr lang="en-US" sz="1300" i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“좋아 보인다”가 아니라 golden_set·실측 회귀로 판단. 가설은 단일 변인으로 격리 검증.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22676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122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Quality &amp; Test · 품질·테스트·성능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품질 · 단위/통합 테스트 · 성능 최적화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58034" cy="1097280"/>
          </a:xfrm>
          <a:prstGeom prst="roundRect">
            <a:avLst>
              <a:gd name="adj" fmla="val 8333"/>
            </a:avLst>
          </a:prstGeom>
          <a:solidFill>
            <a:srgbClr val="EEF3E6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874520"/>
            <a:ext cx="25580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테스트 pytest green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282" y="1783080"/>
            <a:ext cx="2558034" cy="1097280"/>
          </a:xfrm>
          <a:prstGeom prst="roundRect">
            <a:avLst>
              <a:gd name="adj" fmla="val 8333"/>
            </a:avLst>
          </a:prstGeom>
          <a:solidFill>
            <a:srgbClr val="EEF3E6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99282" y="1874520"/>
            <a:ext cx="25580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36/36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90722" y="2487168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시나리오 시뮬레이션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1636" y="1783080"/>
            <a:ext cx="2558034" cy="1097280"/>
          </a:xfrm>
          <a:prstGeom prst="roundRect">
            <a:avLst>
              <a:gd name="adj" fmla="val 8333"/>
            </a:avLst>
          </a:prstGeom>
          <a:solidFill>
            <a:srgbClr val="EEF3E6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1636" y="1874520"/>
            <a:ext cx="25580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12/12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23076" y="2487168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스모크 + 통합 MVP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63990" y="1783080"/>
            <a:ext cx="2558034" cy="1097280"/>
          </a:xfrm>
          <a:prstGeom prst="roundRect">
            <a:avLst>
              <a:gd name="adj" fmla="val 8333"/>
            </a:avLst>
          </a:prstGeom>
          <a:solidFill>
            <a:srgbClr val="EEF3E6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63990" y="1874520"/>
            <a:ext cx="25580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55430" y="2487168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네이밍/구조 drift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10896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" y="327355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품질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" y="3712464"/>
            <a:ext cx="31181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contract-first 단일 진실 소스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self-verification 50연속 PASS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contract-change 절차로 무단 변경 차단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10896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62856" y="327355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2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전략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62856" y="3712464"/>
            <a:ext cx="31181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pytest 845 (hermetic)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통합: integration MVP + 시나리오 36/36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품질: eval-run golden_set 회귀 게이트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9872" y="310896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39328" y="327355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8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최적화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39328" y="3712464"/>
            <a:ext cx="31181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부분 결과로 체감 대기↓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임베딩으로 검색 정확도↑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rate_limit · 3안 병렬 호출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410712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Impact &amp; Roadmap · 활용·기대효과·향후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활용할 것인가 · 기대 효과 · 향후 발전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방안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채널 운영자 — 시리즈 기획 일관성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 — 캠페인 영상 기획·근거 정리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크리에이터 — 아이디어→실행 WBS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2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62856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기획에 드는 시간·반복 질문 감소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메시지 일관성 ↑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피드백이 다음 기획에 누적(Brand Memory)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19872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9328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8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로드맵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9328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입력(이미지·영상 레퍼런스)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자동 PDF/PPT 산출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특화 자체 RAG 확장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5166360"/>
            <a:ext cx="11055096" cy="731520"/>
          </a:xfrm>
          <a:prstGeom prst="roundRect">
            <a:avLst>
              <a:gd name="adj" fmla="val 12500"/>
            </a:avLst>
          </a:prstGeom>
          <a:solidFill>
            <a:srgbClr val="FFF6E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166360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원칙 — </a:t>
            </a:r>
            <a:pPr indent="0" marL="0">
              <a:buNone/>
            </a:pPr>
            <a:r>
              <a:rPr lang="en-US" sz="13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무리한 기능 추가보다 ‘첫 사용자 루프 안정화’를 항상 우선합니다.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930652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9306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My Method · 나만의 AI 운영 기법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md 라우터 + 자동 트리거 스킬 하네스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듀얼 라우터 (단일 md)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— 기획·설계·검토 라우팅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 — 구현·QA·테스트 라우팅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rules·commands·skills를 md로 통합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2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트리거 스킬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62856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.claude/skills 21개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매칭으로 자동 발동(수동 호출 X)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contract-change·eval-run·phase-complete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19872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9328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8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 · 교차검증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9328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Wiki(knowledge/llm_wiki) 암묵지 관리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5단계 승격으로 검증된 지식만 반영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multi-llm-validation: Claude·GPT·Gemini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5166360"/>
            <a:ext cx="11055096" cy="731520"/>
          </a:xfrm>
          <a:prstGeom prst="roundRect">
            <a:avLst>
              <a:gd name="adj" fmla="val 12500"/>
            </a:avLst>
          </a:prstGeom>
          <a:solidFill>
            <a:srgbClr val="AD3817"/>
          </a:solidFill>
          <a:ln/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5166360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—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진실 소스 + 자동 스킬로 1인 운영에서도 일관성·회귀 안전성 확보. 단일 모델 편향은 교차검증으로 완화.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546604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546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Live Demo (30초) · 시연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한 줄 → 브랜드 기획 3안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8390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6E8"/>
          </a:solidFill>
          <a:ln/>
        </p:spPr>
      </p:sp>
      <p:sp>
        <p:nvSpPr>
          <p:cNvPr id="7" name="Text 5"/>
          <p:cNvSpPr/>
          <p:nvPr/>
        </p:nvSpPr>
        <p:spPr>
          <a:xfrm>
            <a:off x="128839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4088" y="2788920"/>
            <a:ext cx="1717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“쇼츠 만들고 싶어요” 한 줄 입력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58491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2811" y="187452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4273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6E8"/>
          </a:solidFill>
          <a:ln/>
        </p:spPr>
      </p:sp>
      <p:sp>
        <p:nvSpPr>
          <p:cNvPr id="12" name="Text 10"/>
          <p:cNvSpPr/>
          <p:nvPr/>
        </p:nvSpPr>
        <p:spPr>
          <a:xfrm>
            <a:off x="3554273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69971" y="2788920"/>
            <a:ext cx="1717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브랜드·타깃을 질문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24374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98694" y="187452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20156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6E8"/>
          </a:solidFill>
          <a:ln/>
        </p:spPr>
      </p:sp>
      <p:sp>
        <p:nvSpPr>
          <p:cNvPr id="17" name="Text 15"/>
          <p:cNvSpPr/>
          <p:nvPr/>
        </p:nvSpPr>
        <p:spPr>
          <a:xfrm>
            <a:off x="582015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35854" y="2788920"/>
            <a:ext cx="1717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기획 방향 승인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90258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64578" y="187452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86039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6E8"/>
          </a:solidFill>
          <a:ln/>
        </p:spPr>
      </p:sp>
      <p:sp>
        <p:nvSpPr>
          <p:cNvPr id="22" name="Text 20"/>
          <p:cNvSpPr/>
          <p:nvPr/>
        </p:nvSpPr>
        <p:spPr>
          <a:xfrm>
            <a:off x="8086039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01738" y="2788920"/>
            <a:ext cx="1717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3안 생성 + Critic 검증(SSE)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56141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30461" y="187452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51922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6E8"/>
          </a:solidFill>
          <a:ln/>
        </p:spPr>
      </p:sp>
      <p:sp>
        <p:nvSpPr>
          <p:cNvPr id="27" name="Text 25"/>
          <p:cNvSpPr/>
          <p:nvPr/>
        </p:nvSpPr>
        <p:spPr>
          <a:xfrm>
            <a:off x="1035192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67621" y="2788920"/>
            <a:ext cx="1717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안 선택 → 저장·피드백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3886200"/>
            <a:ext cx="53446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6384" y="4050792"/>
            <a:ext cx="4978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보여줄 임팩트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6384" y="4489704"/>
            <a:ext cx="49606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한 줄이 ‘브랜드 기획안’으로 즉시 구조화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3안 비교 + Critic 점수로 ‘왜 이 안인지’ 설명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77356" y="3886200"/>
            <a:ext cx="53446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6812" y="4050792"/>
            <a:ext cx="4978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9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안전장치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96812" y="4489704"/>
            <a:ext cx="49606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실패 대비 30초 백업 영상 준비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compact/rich 모드 — 화면에 맞춰 분량 조절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질의응답 준비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5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— ADR · 앱 구조 · 빌드/배포 · 설치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4668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920240"/>
            <a:ext cx="4887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ADR (의사결정 기록)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" y="23317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FF6E8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3317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tech_stack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35808" y="2331720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Next.js·FastAPI·Supabase·OpenAI 대안비교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" y="2807208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FF6E8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28072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Supabase+RLS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35808" y="2807208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httpOnly + 행수준보안 + SSE 4단계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" y="3282696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FF6E8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2826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5단계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3282696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후보→필터→평가→승인→승격(오염 방지)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" y="3758184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FF6E8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37581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MOA Orchestrator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35808" y="3758184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god-function 분해 · 동작 보존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" y="4233672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FF6E8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233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cross-provider judge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35808" y="4233672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정렬 계측기 · 오승인 10/10→0/10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5528" y="5029200"/>
            <a:ext cx="48874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build / FastAPI / migration 0001~0007  →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554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Vercel·Render·Supabase·GitHub Pages (Gate A~G)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77356" y="1783080"/>
            <a:ext cx="5344668" cy="4114800"/>
          </a:xfrm>
          <a:prstGeom prst="roundRect">
            <a:avLst>
              <a:gd name="adj" fmla="val 2222"/>
            </a:avLst>
          </a:prstGeom>
          <a:solidFill>
            <a:srgbClr val="2A211B"/>
          </a:solidFill>
          <a:ln w="12700">
            <a:solidFill>
              <a:srgbClr val="EAD9C7"/>
            </a:solidFill>
            <a:prstDash val="solid"/>
          </a:ln>
          <a:effectLst>
            <a:outerShdw sx="100000" sy="100000" kx="0" ky="0" algn="bl" rotWithShape="0" blurRad="114300" dist="38100" dir="8100000">
              <a:srgbClr val="352A24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05956" y="1920240"/>
            <a:ext cx="4887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구조 · 디렉토리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05956" y="2286000"/>
            <a:ext cx="48417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5D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harness/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5D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apps/web/        Next.js PWA (11 routes)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5D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backend/         FastAPI (17 endpoints)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5D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ai_system/       MOA Lite · RAG Lite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5D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docs/contracts/  단일 진실 소스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5D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docs/decisions/  ADR 39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5D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eval/            golden_set · 회귀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5D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knowledge/       LLM Wiki · RAG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5D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 .claude/skills/  Skill 21 (자동 트리거)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05956" y="4572000"/>
            <a:ext cx="4887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(GitHub README)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05956" y="4892040"/>
            <a:ext cx="48417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…/Dreammate-Studio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.env.example .env   # 키 주입(미포함)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&amp;&amp; npm run dev   # FE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uvicorn app.main:app --reload  # BE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6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F3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F47B2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FFB23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051560"/>
            <a:ext cx="13944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51560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38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 · 마무리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이제는 빌더 · 파운더 · 오케스트레이터의 시대입니다.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25146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Studio는 이들의 생각을
</a:t>
            </a:r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E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</a:t>
            </a:r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E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증폭</a:t>
            </a:r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66928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D9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github.com/aiden238/Dreammate-Studio    ·    Phase 0~31 완료  ·  pytest 845  ·  ADR 39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5577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Dreammate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Dreammate Studio — 영상기획 AI 에이전트 (5분 발표)</dc:title>
  <dc:subject>PptxGenJS Presentation</dc:subject>
  <dc:creator>송병철, 송승준</dc:creator>
  <cp:lastModifiedBy>송병철, 송승준</cp:lastModifiedBy>
  <cp:revision>1</cp:revision>
  <dcterms:created xsi:type="dcterms:W3CDTF">2026-06-22T00:37:55Z</dcterms:created>
  <dcterms:modified xsi:type="dcterms:W3CDTF">2026-06-22T00:37:55Z</dcterms:modified>
</cp:coreProperties>
</file>